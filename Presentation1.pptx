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omments/modernComment_100_0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F51ECC6-2D4B-BA92-B282-4E3DA8165BC6}" name="RISHIT BISOYI" initials="RB" userId="S::rishit.bisoyi2025@vitstudent.ac.in::cd4f7ff7-75e1-49f2-a276-375c6c14782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69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688531-0810-49A5-A43A-AC37517BACE6}" authorId="{4F51ECC6-2D4B-BA92-B282-4E3DA8165BC6}" created="2026-10-06T20:26:11.604">
    <pc:sldMkLst xmlns:pc="http://schemas.microsoft.com/office/powerpoint/2013/main/command">
      <pc:docMk/>
      <pc:sldMk cId="0" sldId="256"/>
    </pc:sldMkLst>
    <p188:txBody>
      <a:bodyPr/>
      <a:lstStyle/>
      <a:p>
        <a:r>
          <a:rPr lang="en-US"/>
          <a:t>Go to File-&gt;Create a copy-&gt;Download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020AC-DEA6-438C-ADA8-BC11F3748DC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99314-5D55-4E3F-A28B-EEA856681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966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699314-5D55-4E3F-A28B-EEA85668116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505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699314-5D55-4E3F-A28B-EEA85668116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150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827" y="63754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2194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2596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2999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9601200" y="640080"/>
            <a:ext cx="109728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6005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65733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rc 19"/>
          <p:cNvSpPr/>
          <p:nvPr/>
        </p:nvSpPr>
        <p:spPr>
          <a:xfrm>
            <a:off x="1463040" y="5303520"/>
            <a:ext cx="1005840" cy="73152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421892" y="56281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27732" y="526237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/>
          <p:cNvSpPr/>
          <p:nvPr/>
        </p:nvSpPr>
        <p:spPr>
          <a:xfrm rot="10800000">
            <a:off x="1645920" y="758952"/>
            <a:ext cx="219456" cy="256032"/>
          </a:xfrm>
          <a:prstGeom prst="triangle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673352" y="685800"/>
            <a:ext cx="164592" cy="91440"/>
          </a:xfrm>
          <a:prstGeom prst="roundRect">
            <a:avLst>
              <a:gd name="adj" fmla="val 20000"/>
            </a:avLst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732788" y="822960"/>
            <a:ext cx="45720" cy="45720"/>
          </a:xfrm>
          <a:prstGeom prst="ellipse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751076" y="868680"/>
            <a:ext cx="19050" cy="13716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17360" y="1064704"/>
            <a:ext cx="9144000" cy="1554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5600" b="1">
                <a:solidFill>
                  <a:srgbClr val="353334"/>
                </a:solidFill>
                <a:latin typeface="Fjalla One"/>
              </a:defRPr>
            </a:pPr>
            <a:r>
              <a:t>DATAQUEST 3.0</a:t>
            </a:r>
          </a:p>
          <a:p>
            <a:pPr>
              <a:spcBef>
                <a:spcPts val="200"/>
              </a:spcBef>
              <a:defRPr sz="3200" b="1">
                <a:solidFill>
                  <a:srgbClr val="FD1485"/>
                </a:solidFill>
                <a:latin typeface="Fjalla One"/>
              </a:defRPr>
            </a:pPr>
            <a:r>
              <a:t>ROUND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0" y="2578608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45920" y="2670048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353334"/>
                </a:solidFill>
                <a:latin typeface="Mulish"/>
              </a:defRPr>
            </a:pPr>
            <a:r>
              <a:t>OFFICIAL PARTICIPANT PPT TEMPLATE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3246120"/>
            <a:ext cx="4572000" cy="2926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Ad</a:t>
            </a:r>
            <a:endParaRPr dirty="0"/>
          </a:p>
        </p:txBody>
      </p:sp>
      <p:sp>
        <p:nvSpPr>
          <p:cNvPr id="31" name="Rounded Rectangle 30"/>
          <p:cNvSpPr/>
          <p:nvPr/>
        </p:nvSpPr>
        <p:spPr>
          <a:xfrm>
            <a:off x="1965960" y="3118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PROJECT DETAILS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520440"/>
            <a:ext cx="4023360" cy="2682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sz="2000" dirty="0">
                <a:latin typeface="Algerian" panose="04020705040A02060702" pitchFamily="82" charset="0"/>
              </a:rPr>
              <a:t>PROJECT TITLE</a:t>
            </a:r>
          </a:p>
          <a:p>
            <a:pPr>
              <a:spcAft>
                <a:spcPts val="200"/>
              </a:spcAft>
            </a:pPr>
            <a:r>
              <a:rPr sz="1400" b="1" dirty="0">
                <a:latin typeface="Lucida Bright" panose="02040602050505020304" pitchFamily="18" charset="0"/>
                <a:ea typeface="Cambria" panose="02040503050406030204" pitchFamily="18" charset="0"/>
              </a:rPr>
              <a:t>Pilot:</a:t>
            </a:r>
            <a:r>
              <a:rPr sz="1400" dirty="0">
                <a:latin typeface="Lucida Bright" panose="02040602050505020304" pitchFamily="18" charset="0"/>
                <a:ea typeface="Cambria" panose="02040503050406030204" pitchFamily="18" charset="0"/>
              </a:rPr>
              <a:t> Autonomous Marketing Decision Engine</a:t>
            </a:r>
          </a:p>
          <a:p>
            <a:pPr>
              <a:spcAft>
                <a:spcPts val="200"/>
              </a:spcAft>
            </a:pPr>
            <a:r>
              <a:rPr sz="1400" dirty="0">
                <a:latin typeface="Lucida Bright" panose="02040602050505020304" pitchFamily="18" charset="0"/>
                <a:ea typeface="Cambria" panose="02040503050406030204" pitchFamily="18" charset="0"/>
              </a:rPr>
              <a:t>ONE-LINE PITCH</a:t>
            </a:r>
          </a:p>
          <a:p>
            <a:pPr>
              <a:spcAft>
                <a:spcPts val="200"/>
              </a:spcAft>
            </a:pPr>
            <a:r>
              <a:rPr sz="1400" dirty="0">
                <a:latin typeface="Lucida Bright" panose="02040602050505020304" pitchFamily="18" charset="0"/>
                <a:ea typeface="Cambria" panose="02040503050406030204" pitchFamily="18" charset="0"/>
              </a:rPr>
              <a:t>An AI decision engine that unifies ad, sales, inventory and margin data to diagnose performance and recommend profit-aware budget actions.</a:t>
            </a:r>
          </a:p>
          <a:p>
            <a:pPr>
              <a:spcAft>
                <a:spcPts val="200"/>
              </a:spcAft>
            </a:pPr>
            <a:r>
              <a:rPr sz="1400" dirty="0">
                <a:latin typeface="Lucida Bright" panose="02040602050505020304" pitchFamily="18" charset="0"/>
                <a:ea typeface="Cambria" panose="02040503050406030204" pitchFamily="18" charset="0"/>
              </a:rPr>
              <a:t>TRACK</a:t>
            </a:r>
          </a:p>
          <a:p>
            <a:pPr>
              <a:spcAft>
                <a:spcPts val="200"/>
              </a:spcAft>
            </a:pPr>
            <a:r>
              <a:rPr sz="1400" dirty="0">
                <a:latin typeface="Lucida Bright" panose="02040602050505020304" pitchFamily="18" charset="0"/>
                <a:ea typeface="Cambria" panose="02040503050406030204" pitchFamily="18" charset="0"/>
              </a:rPr>
              <a:t>AI / Data Intelligence (confirm official track name)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246120"/>
            <a:ext cx="4572000" cy="2926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812280" y="3118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TEAM &amp; MEMBERS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506589"/>
            <a:ext cx="4726305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sz="1600" dirty="0">
                <a:latin typeface="Algerian" panose="04020705040A02060702" pitchFamily="82" charset="0"/>
              </a:rPr>
              <a:t>TEAM</a:t>
            </a:r>
          </a:p>
          <a:p>
            <a:pPr>
              <a:spcAft>
                <a:spcPts val="200"/>
              </a:spcAft>
            </a:pPr>
            <a:r>
              <a:rPr sz="1400" b="1" dirty="0">
                <a:latin typeface="Lucida Bright" panose="02040602050505020304" pitchFamily="18" charset="0"/>
              </a:rPr>
              <a:t>[</a:t>
            </a:r>
            <a:r>
              <a:rPr lang="en-US" sz="1400" b="1" dirty="0">
                <a:latin typeface="Lucida Bright" panose="02040602050505020304" pitchFamily="18" charset="0"/>
              </a:rPr>
              <a:t>NEXORA</a:t>
            </a:r>
            <a:r>
              <a:rPr sz="1400" b="1" dirty="0">
                <a:latin typeface="Lucida Bright" panose="02040602050505020304" pitchFamily="18" charset="0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400" dirty="0">
                <a:latin typeface="Lucida Bright" panose="02040602050505020304" pitchFamily="18" charset="0"/>
              </a:rPr>
              <a:t>PARTICIPANTS</a:t>
            </a:r>
          </a:p>
          <a:p>
            <a:pPr>
              <a:spcAft>
                <a:spcPts val="200"/>
              </a:spcAft>
            </a:pPr>
            <a:r>
              <a:rPr sz="1400" dirty="0">
                <a:latin typeface="Lucida Bright" panose="02040602050505020304" pitchFamily="18" charset="0"/>
              </a:rPr>
              <a:t>• Member 1 — [</a:t>
            </a:r>
            <a:r>
              <a:rPr lang="en-US" sz="1400" dirty="0">
                <a:latin typeface="Lucida Bright" panose="02040602050505020304" pitchFamily="18" charset="0"/>
              </a:rPr>
              <a:t>Mitul .R</a:t>
            </a:r>
            <a:r>
              <a:rPr sz="1400" dirty="0">
                <a:latin typeface="Lucida Bright" panose="02040602050505020304" pitchFamily="18" charset="0"/>
              </a:rPr>
              <a:t>/ </a:t>
            </a:r>
            <a:r>
              <a:rPr lang="en-US" sz="1400" dirty="0">
                <a:latin typeface="Lucida Bright" panose="02040602050505020304" pitchFamily="18" charset="0"/>
              </a:rPr>
              <a:t>26BDS1170</a:t>
            </a:r>
            <a:r>
              <a:rPr sz="1400" dirty="0">
                <a:latin typeface="Lucida Bright" panose="02040602050505020304" pitchFamily="18" charset="0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400" dirty="0">
                <a:latin typeface="Lucida Bright" panose="02040602050505020304" pitchFamily="18" charset="0"/>
              </a:rPr>
              <a:t>• Member 2 — [</a:t>
            </a:r>
            <a:r>
              <a:rPr lang="en-US" sz="1400" dirty="0" err="1">
                <a:latin typeface="Lucida Bright" panose="02040602050505020304" pitchFamily="18" charset="0"/>
              </a:rPr>
              <a:t>Tharun</a:t>
            </a:r>
            <a:r>
              <a:rPr lang="en-US" sz="1400" dirty="0">
                <a:latin typeface="Lucida Bright" panose="02040602050505020304" pitchFamily="18" charset="0"/>
              </a:rPr>
              <a:t> </a:t>
            </a:r>
            <a:r>
              <a:rPr lang="en-US" sz="1400" dirty="0" err="1">
                <a:latin typeface="Lucida Bright" panose="02040602050505020304" pitchFamily="18" charset="0"/>
              </a:rPr>
              <a:t>Adhithya</a:t>
            </a:r>
            <a:r>
              <a:rPr lang="en-US" sz="1400" dirty="0">
                <a:latin typeface="Lucida Bright" panose="02040602050505020304" pitchFamily="18" charset="0"/>
              </a:rPr>
              <a:t> .RM</a:t>
            </a:r>
            <a:r>
              <a:rPr sz="1400" dirty="0">
                <a:latin typeface="Lucida Bright" panose="02040602050505020304" pitchFamily="18" charset="0"/>
              </a:rPr>
              <a:t> /</a:t>
            </a:r>
            <a:r>
              <a:rPr lang="en-US" sz="1400" dirty="0">
                <a:latin typeface="Lucida Bright" panose="02040602050505020304" pitchFamily="18" charset="0"/>
              </a:rPr>
              <a:t> 26BVD1093</a:t>
            </a:r>
            <a:r>
              <a:rPr sz="1400" dirty="0">
                <a:latin typeface="Lucida Bright" panose="02040602050505020304" pitchFamily="18" charset="0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400" dirty="0">
                <a:latin typeface="Lucida Bright" panose="02040602050505020304" pitchFamily="18" charset="0"/>
              </a:rPr>
              <a:t>• Member 3 — [</a:t>
            </a:r>
            <a:r>
              <a:rPr lang="en-US" sz="1400" dirty="0" err="1">
                <a:latin typeface="Lucida Bright" panose="02040602050505020304" pitchFamily="18" charset="0"/>
              </a:rPr>
              <a:t>Badrinath.V</a:t>
            </a:r>
            <a:r>
              <a:rPr lang="en-US" sz="1400" dirty="0">
                <a:latin typeface="Lucida Bright" panose="02040602050505020304" pitchFamily="18" charset="0"/>
              </a:rPr>
              <a:t> </a:t>
            </a:r>
            <a:r>
              <a:rPr sz="1400" dirty="0">
                <a:latin typeface="Lucida Bright" panose="02040602050505020304" pitchFamily="18" charset="0"/>
              </a:rPr>
              <a:t>/</a:t>
            </a:r>
            <a:r>
              <a:rPr lang="en-US" sz="1400" dirty="0">
                <a:latin typeface="Lucida Bright" panose="02040602050505020304" pitchFamily="18" charset="0"/>
              </a:rPr>
              <a:t>26BVD1040</a:t>
            </a:r>
            <a:r>
              <a:rPr sz="1400" dirty="0">
                <a:latin typeface="Lucida Bright" panose="02040602050505020304" pitchFamily="18" charset="0"/>
              </a:rPr>
              <a:t> ]</a:t>
            </a:r>
          </a:p>
          <a:p>
            <a:pPr>
              <a:spcAft>
                <a:spcPts val="200"/>
              </a:spcAft>
            </a:pPr>
            <a:r>
              <a:rPr sz="1400" dirty="0">
                <a:latin typeface="Lucida Bright" panose="02040602050505020304" pitchFamily="18" charset="0"/>
              </a:rPr>
              <a:t>• Member 4 — [</a:t>
            </a:r>
            <a:r>
              <a:rPr lang="en-US" sz="1400" dirty="0" err="1">
                <a:latin typeface="Lucida Bright" panose="02040602050505020304" pitchFamily="18" charset="0"/>
              </a:rPr>
              <a:t>R.Harshitha</a:t>
            </a:r>
            <a:r>
              <a:rPr sz="1400" dirty="0">
                <a:latin typeface="Lucida Bright" panose="02040602050505020304" pitchFamily="18" charset="0"/>
              </a:rPr>
              <a:t> / </a:t>
            </a:r>
            <a:r>
              <a:rPr lang="en-US" sz="1400" dirty="0">
                <a:latin typeface="Lucida Bright" panose="02040602050505020304" pitchFamily="18" charset="0"/>
              </a:rPr>
              <a:t>26BEC1364</a:t>
            </a:r>
            <a:r>
              <a:rPr sz="1400" dirty="0">
                <a:latin typeface="Lucida Bright" panose="02040602050505020304" pitchFamily="18" charset="0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400" dirty="0">
                <a:latin typeface="Lucida Bright" panose="02040602050505020304" pitchFamily="18" charset="0"/>
              </a:rPr>
              <a:t>• Member 5 — [</a:t>
            </a:r>
            <a:r>
              <a:rPr lang="en-US" sz="1400" dirty="0" err="1">
                <a:latin typeface="Lucida Bright" panose="02040602050505020304" pitchFamily="18" charset="0"/>
              </a:rPr>
              <a:t>K.Nitteshari</a:t>
            </a:r>
            <a:r>
              <a:rPr sz="1400" dirty="0">
                <a:latin typeface="Lucida Bright" panose="02040602050505020304" pitchFamily="18" charset="0"/>
              </a:rPr>
              <a:t> / </a:t>
            </a:r>
            <a:r>
              <a:rPr lang="en-US" sz="1400" dirty="0">
                <a:latin typeface="Lucida Bright" panose="02040602050505020304" pitchFamily="18" charset="0"/>
              </a:rPr>
              <a:t>26BLC1131</a:t>
            </a:r>
            <a:r>
              <a:rPr sz="1400" dirty="0">
                <a:latin typeface="Lucida Bright" panose="02040602050505020304" pitchFamily="18" charset="0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400" dirty="0">
                <a:latin typeface="Lucida Bright" panose="02040602050505020304" pitchFamily="18" charset="0"/>
              </a:rPr>
              <a:t>• Member 6 — [</a:t>
            </a:r>
            <a:r>
              <a:rPr lang="en-US" sz="1400" dirty="0" err="1">
                <a:latin typeface="Lucida Bright" panose="02040602050505020304" pitchFamily="18" charset="0"/>
              </a:rPr>
              <a:t>Roshan.A</a:t>
            </a:r>
            <a:r>
              <a:rPr sz="1400" dirty="0">
                <a:latin typeface="Lucida Bright" panose="02040602050505020304" pitchFamily="18" charset="0"/>
              </a:rPr>
              <a:t> / </a:t>
            </a:r>
            <a:r>
              <a:rPr lang="en-US" sz="1400" dirty="0">
                <a:latin typeface="Lucida Bright" panose="02040602050505020304" pitchFamily="18" charset="0"/>
              </a:rPr>
              <a:t>26BLC1162</a:t>
            </a:r>
            <a:r>
              <a:rPr sz="1400" dirty="0">
                <a:latin typeface="Lucida Bright" panose="02040602050505020304" pitchFamily="18" charset="0"/>
              </a:rPr>
              <a:t>]</a:t>
            </a:r>
          </a:p>
        </p:txBody>
      </p:sp>
    </p:spTree>
  </p:cSld>
  <p:clrMapOvr>
    <a:masterClrMapping/>
  </p:clrMapOvr>
  <p:extLst mod="1">
    <p:ext uri="{6950BFC3-D8DA-4A85-94F7-54DA5524770B}">
      <p188:commentRel xmlns=""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02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Problem Definition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t>Who is impacted · Today's workarounds · Why current methods fail · Concrete proof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205740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01 · AUDIENCE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441448"/>
            <a:ext cx="4023360" cy="1472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sz="2400" dirty="0">
                <a:latin typeface="Algerian" panose="04020705040A02060702" pitchFamily="82" charset="0"/>
              </a:rPr>
              <a:t>WHO &amp; HOW OFTEN</a:t>
            </a:r>
          </a:p>
          <a:p>
            <a:pPr>
              <a:spcAft>
                <a:spcPts val="200"/>
              </a:spcAft>
            </a:pPr>
            <a:r>
              <a:rPr sz="1600" dirty="0">
                <a:latin typeface="Lucida Bright" panose="02040602050505020304" pitchFamily="18" charset="0"/>
              </a:rPr>
              <a:t>D2C founders, growth marketers and performance teams face this daily while managing multiple campaigns, products and channels</a:t>
            </a:r>
            <a:r>
              <a:rPr sz="1600" dirty="0">
                <a:latin typeface="Lucida Calligraphy" panose="03010101010101010101" pitchFamily="66" charset="0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05740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1228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02 · STATUS QUO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313432"/>
            <a:ext cx="4023360" cy="1718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sz="2400" dirty="0">
                <a:latin typeface="Algerian" panose="04020705040A02060702" pitchFamily="82" charset="0"/>
              </a:rPr>
              <a:t>CURRENT APPROACH</a:t>
            </a:r>
          </a:p>
          <a:p>
            <a:pPr>
              <a:spcAft>
                <a:spcPts val="200"/>
              </a:spcAft>
            </a:pPr>
            <a:r>
              <a:rPr sz="1600" dirty="0">
                <a:latin typeface="Lucida Bright" panose="02040602050505020304" pitchFamily="18" charset="0"/>
              </a:rPr>
              <a:t>Teams switch between ad-platform dashboards, store analytics, spreadsheets and inventory systems; decisions are often made manually from separate reports.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438912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965960" y="4261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03 · DEFICIENCY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645152"/>
            <a:ext cx="4023360" cy="1718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sz="2400" dirty="0">
                <a:latin typeface="Algerian" panose="04020705040A02060702" pitchFamily="82" charset="0"/>
              </a:rPr>
              <a:t>WHY IT FALLS SHORT</a:t>
            </a:r>
          </a:p>
          <a:p>
            <a:pPr>
              <a:spcAft>
                <a:spcPts val="200"/>
              </a:spcAft>
            </a:pPr>
            <a:r>
              <a:rPr sz="1600" dirty="0">
                <a:latin typeface="Lucida Bright" panose="02040602050505020304" pitchFamily="18" charset="0"/>
              </a:rPr>
              <a:t>Siloed metrics hide the full business picture. High ROAS can still be low-profit, and scaling ads without checking stock can cause stockouts or wasted spend.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438912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812280" y="4261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rPr dirty="0"/>
              <a:t>04 ·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645152"/>
            <a:ext cx="4023360" cy="1779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sz="2400" dirty="0">
                <a:latin typeface="Algerian" panose="04020705040A02060702" pitchFamily="82" charset="0"/>
              </a:rPr>
              <a:t>EVIDENCE</a:t>
            </a:r>
          </a:p>
          <a:p>
            <a:pPr>
              <a:spcAft>
                <a:spcPts val="200"/>
              </a:spcAft>
            </a:pPr>
            <a:r>
              <a:rPr sz="1400" dirty="0">
                <a:latin typeface="Lucida Bright" panose="02040602050505020304" pitchFamily="18" charset="0"/>
              </a:rPr>
              <a:t>Prototype validation: use a reproducible synthetic dataset covering spend, revenue, clicks, orders, margin and stock. Demonstrate cases where ad-only ranking conflicts with profit- and inventory-aware ranking. No external benchmark is claimed.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03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Proposed Solution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t>System identity · End-to-end user workflow · Competitive advantages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2011680"/>
            <a:ext cx="9418320" cy="1188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8836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SOLUTION 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2206152"/>
            <a:ext cx="8869680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353334"/>
                </a:solidFill>
                <a:latin typeface="Fjalla One"/>
              </a:defRPr>
            </a:pPr>
            <a:r>
              <a:rPr sz="1600" dirty="0" err="1">
                <a:latin typeface="Agency FB" panose="020B0503020202020204" pitchFamily="34" charset="0"/>
              </a:rPr>
              <a:t>AdPilot</a:t>
            </a:r>
            <a:r>
              <a:rPr sz="1600" dirty="0">
                <a:latin typeface="Agency FB" panose="020B0503020202020204" pitchFamily="34" charset="0"/>
              </a:rPr>
              <a:t> Decision Engine</a:t>
            </a:r>
          </a:p>
          <a:p>
            <a:pPr>
              <a:spcAft>
                <a:spcPts val="200"/>
              </a:spcAft>
            </a:pPr>
            <a:r>
              <a:rPr sz="1400" dirty="0">
                <a:latin typeface="Lucida Bright" panose="02040602050505020304" pitchFamily="18" charset="0"/>
              </a:rPr>
              <a:t>Unifies campaign, sales, product-margin and inventory data; calculates metrics, detects performance changes, explains likely drivers and recommends prioritized actions with transparent reasons.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45920" y="3383280"/>
            <a:ext cx="9418320" cy="1280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965960" y="32552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USER 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82140" y="3794760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sz="1200" dirty="0"/>
              <a:t>1. USER INPUT</a:t>
            </a:r>
            <a:endParaRPr lang="en-US" sz="1200" dirty="0"/>
          </a:p>
          <a:p>
            <a:pPr algn="ctr">
              <a:spcAft>
                <a:spcPts val="200"/>
              </a:spcAft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lang="en-US" sz="1200" dirty="0"/>
              <a:t>sales, products, margins and inventory Upload CSV / Excel files for ads, .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353334"/>
                </a:solidFill>
                <a:latin typeface="Fjalla One"/>
              </a:defRPr>
            </a:pPr>
            <a:endParaRPr sz="1300" dirty="0"/>
          </a:p>
          <a:p>
            <a:pPr>
              <a:spcAft>
                <a:spcPts val="200"/>
              </a:spcAft>
            </a:pPr>
            <a:endParaRPr sz="1300" dirty="0"/>
          </a:p>
        </p:txBody>
      </p:sp>
      <p:sp>
        <p:nvSpPr>
          <p:cNvPr id="30" name="TextBox 29"/>
          <p:cNvSpPr txBox="1"/>
          <p:nvPr/>
        </p:nvSpPr>
        <p:spPr>
          <a:xfrm>
            <a:off x="4590288" y="3931920"/>
            <a:ext cx="32918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353334"/>
                </a:solidFill>
                <a:latin typeface="Mulish"/>
              </a:defRPr>
            </a:pPr>
            <a:r>
              <a:t>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3822192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B9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sz="1100" dirty="0"/>
              <a:t>2. PROCESSING</a:t>
            </a:r>
            <a:endParaRPr lang="en-US" sz="1100" dirty="0"/>
          </a:p>
          <a:p>
            <a:pPr algn="ctr">
              <a:spcAft>
                <a:spcPts val="200"/>
              </a:spcAft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lang="en-US" sz="1100" dirty="0"/>
              <a:t>signals; detect anomalies; score actions using expected return, margin and stock constraints. Validate and join data; calculate ROAS, conversion rate and pro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353334"/>
                </a:solidFill>
                <a:latin typeface="Fjalla One"/>
              </a:defRPr>
            </a:pPr>
            <a:endParaRPr sz="1100" dirty="0"/>
          </a:p>
        </p:txBody>
      </p:sp>
      <p:sp>
        <p:nvSpPr>
          <p:cNvPr id="32" name="TextBox 31"/>
          <p:cNvSpPr txBox="1"/>
          <p:nvPr/>
        </p:nvSpPr>
        <p:spPr>
          <a:xfrm>
            <a:off x="7699248" y="3931920"/>
            <a:ext cx="32918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353334"/>
                </a:solidFill>
                <a:latin typeface="Mulish"/>
              </a:defRPr>
            </a:pPr>
            <a:r>
              <a:t>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822192"/>
            <a:ext cx="2697480" cy="7665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lang="en-US" sz="1300" dirty="0"/>
              <a:t>3</a:t>
            </a:r>
            <a:r>
              <a:rPr sz="1300" dirty="0"/>
              <a:t>. OUTPUT</a:t>
            </a:r>
            <a:endParaRPr lang="en-US" sz="1300" dirty="0"/>
          </a:p>
          <a:p>
            <a:pPr algn="ctr">
              <a:spcAft>
                <a:spcPts val="200"/>
              </a:spcAft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sz="1100" dirty="0" err="1"/>
              <a:t>R</a:t>
            </a:r>
            <a:r>
              <a:rPr lang="en-US" sz="1100" dirty="0" err="1"/>
              <a:t>eco</a:t>
            </a:r>
            <a:r>
              <a:rPr sz="1100" dirty="0" err="1"/>
              <a:t>mendations</a:t>
            </a:r>
            <a:r>
              <a:rPr sz="1100" dirty="0"/>
              <a:t>: increase, reduce, pause or reallocate budget, each with evidence, estimated impact and approval status.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45920" y="4846320"/>
            <a:ext cx="4572000" cy="1691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965960" y="47183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ADVANTAGE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4943105"/>
            <a:ext cx="4023360" cy="162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53334"/>
                </a:solidFill>
                <a:latin typeface="Fjalla One"/>
              </a:defRPr>
            </a:pPr>
            <a:r>
              <a:rPr sz="1400" dirty="0">
                <a:latin typeface="Agency FB" panose="020B0503020202020204" pitchFamily="34" charset="0"/>
              </a:rPr>
              <a:t>WHY IT IS BETTER</a:t>
            </a:r>
          </a:p>
          <a:p>
            <a:pPr>
              <a:spcAft>
                <a:spcPts val="200"/>
              </a:spcAft>
            </a:pPr>
            <a:r>
              <a:rPr sz="1400" dirty="0">
                <a:latin typeface="Lucida Bright" panose="02040602050505020304" pitchFamily="18" charset="0"/>
              </a:rPr>
              <a:t>One workflow connects ad efficiency to business constraints, reducing manual cross-checking. Measure analysis time against a documented baseline; improvement is a target, not yet a measured result.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4846320"/>
            <a:ext cx="4572000" cy="1691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812280" y="47183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INNOVATION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4180" y="4974336"/>
            <a:ext cx="4023360" cy="162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53334"/>
                </a:solidFill>
                <a:latin typeface="Fjalla One"/>
              </a:defRPr>
            </a:pPr>
            <a:r>
              <a:rPr sz="1400" dirty="0">
                <a:latin typeface="Agency FB" panose="020B0503020202020204" pitchFamily="34" charset="0"/>
              </a:rPr>
              <a:t>WHAT IS DIFFERENT</a:t>
            </a:r>
          </a:p>
          <a:p>
            <a:pPr>
              <a:spcAft>
                <a:spcPts val="200"/>
              </a:spcAft>
            </a:pPr>
            <a:r>
              <a:rPr sz="1400" dirty="0">
                <a:latin typeface="Lucida Bright" panose="02040602050505020304" pitchFamily="18" charset="0"/>
              </a:rPr>
              <a:t>Profit- and inventory-aware decisions: campaigns are not scaled on ROAS alone. Recommendations combine ad performance, product margin, available stock and confidence, with human approval before live changes.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 dirty="0">
                <a:solidFill>
                  <a:srgbClr val="FD1485"/>
                </a:solidFill>
                <a:latin typeface="Fjalla One"/>
              </a:rPr>
              <a:t>04  </a:t>
            </a:r>
            <a:r>
              <a:rPr sz="3200" b="1" dirty="0">
                <a:solidFill>
                  <a:srgbClr val="353334"/>
                </a:solidFill>
                <a:latin typeface="Fjalla One"/>
              </a:rPr>
              <a:t>System Architecture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t>System diagram is the primary visual · Engineering decisions · 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2011680"/>
            <a:ext cx="9418320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8836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SYSTEM DIAGRAM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2139696"/>
            <a:ext cx="8869680" cy="2472690"/>
          </a:xfrm>
          <a:prstGeom prst="roundRect">
            <a:avLst>
              <a:gd name="adj" fmla="val 3500"/>
            </a:avLst>
          </a:prstGeom>
          <a:solidFill>
            <a:srgbClr val="FFFFF1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98549" y="2210734"/>
            <a:ext cx="8503920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353334"/>
                </a:solidFill>
                <a:latin typeface="Fjalla One"/>
              </a:defRPr>
            </a:pPr>
            <a:r>
              <a:rPr sz="1100" dirty="0"/>
              <a:t>DATA SOURCES</a:t>
            </a:r>
          </a:p>
          <a:p>
            <a:pPr>
              <a:spcAft>
                <a:spcPts val="200"/>
              </a:spcAft>
            </a:pPr>
            <a:r>
              <a:rPr sz="1050" dirty="0">
                <a:latin typeface="Lucida Bright" panose="02040602050505020304" pitchFamily="18" charset="0"/>
              </a:rPr>
              <a:t>CSV / Excel: Ads • Sales • Products • Inventory</a:t>
            </a:r>
            <a:r>
              <a:rPr lang="en-US" sz="1050" dirty="0">
                <a:latin typeface="Lucida Bright" panose="02040602050505020304" pitchFamily="18" charset="0"/>
              </a:rPr>
              <a:t>                                  </a:t>
            </a:r>
            <a:r>
              <a:rPr lang="en-IN" sz="1050" dirty="0">
                <a:latin typeface="Lucida Bright" panose="02040602050505020304" pitchFamily="18" charset="0"/>
              </a:rPr>
              <a:t>↓</a:t>
            </a:r>
            <a:r>
              <a:rPr lang="en-US" sz="1050" dirty="0">
                <a:latin typeface="Lucida Bright" panose="02040602050505020304" pitchFamily="18" charset="0"/>
              </a:rPr>
              <a:t>                                                                                   </a:t>
            </a:r>
            <a:endParaRPr sz="1050" dirty="0">
              <a:latin typeface="Lucida Bright" panose="02040602050505020304" pitchFamily="18" charset="0"/>
            </a:endParaRPr>
          </a:p>
          <a:p>
            <a:pPr>
              <a:spcAft>
                <a:spcPts val="200"/>
              </a:spcAft>
            </a:pPr>
            <a:r>
              <a:rPr sz="1050" dirty="0">
                <a:latin typeface="Lucida Bright" panose="02040602050505020304" pitchFamily="18" charset="0"/>
              </a:rPr>
              <a:t>↓</a:t>
            </a:r>
            <a:r>
              <a:rPr lang="en-US" sz="1050" dirty="0">
                <a:latin typeface="Lucida Bright" panose="02040602050505020304" pitchFamily="18" charset="0"/>
              </a:rPr>
              <a:t>                                                                                                  </a:t>
            </a:r>
            <a:r>
              <a:rPr lang="en-IN" sz="1050" dirty="0">
                <a:latin typeface="Lucida Bright" panose="02040602050505020304" pitchFamily="18" charset="0"/>
              </a:rPr>
              <a:t>LOCAL WEB DASHBOARD</a:t>
            </a:r>
            <a:endParaRPr sz="1050" dirty="0">
              <a:latin typeface="Lucida Bright" panose="02040602050505020304" pitchFamily="18" charset="0"/>
            </a:endParaRPr>
          </a:p>
          <a:p>
            <a:pPr>
              <a:spcAft>
                <a:spcPts val="200"/>
              </a:spcAft>
            </a:pPr>
            <a:r>
              <a:rPr sz="1050" dirty="0">
                <a:latin typeface="Lucida Bright" panose="02040602050505020304" pitchFamily="18" charset="0"/>
              </a:rPr>
              <a:t>INGESTION &amp; VALIDATION</a:t>
            </a:r>
            <a:r>
              <a:rPr lang="en-US" sz="1050" dirty="0">
                <a:latin typeface="Lucida Bright" panose="02040602050505020304" pitchFamily="18" charset="0"/>
              </a:rPr>
              <a:t>                                                         Upload • Insights • Decision Centre • Approve/reject</a:t>
            </a:r>
            <a:endParaRPr sz="1050" dirty="0">
              <a:latin typeface="Lucida Bright" panose="02040602050505020304" pitchFamily="18" charset="0"/>
            </a:endParaRPr>
          </a:p>
          <a:p>
            <a:pPr>
              <a:spcAft>
                <a:spcPts val="200"/>
              </a:spcAft>
            </a:pPr>
            <a:r>
              <a:rPr sz="1050" dirty="0">
                <a:latin typeface="Lucida Bright" panose="02040602050505020304" pitchFamily="18" charset="0"/>
              </a:rPr>
              <a:t>Schema checks • Cleaning • Join keys</a:t>
            </a:r>
            <a:r>
              <a:rPr lang="en-US" sz="1050" dirty="0">
                <a:latin typeface="Lucida Bright" panose="02040602050505020304" pitchFamily="18" charset="0"/>
              </a:rPr>
              <a:t>                                                  </a:t>
            </a:r>
            <a:r>
              <a:rPr lang="en-IN" sz="1050" dirty="0">
                <a:latin typeface="Lucida Bright" panose="02040602050505020304" pitchFamily="18" charset="0"/>
              </a:rPr>
              <a:t>↓</a:t>
            </a:r>
            <a:endParaRPr sz="1050" dirty="0">
              <a:latin typeface="Lucida Bright" panose="02040602050505020304" pitchFamily="18" charset="0"/>
            </a:endParaRPr>
          </a:p>
          <a:p>
            <a:pPr>
              <a:spcAft>
                <a:spcPts val="200"/>
              </a:spcAft>
            </a:pPr>
            <a:r>
              <a:rPr sz="1050" dirty="0">
                <a:latin typeface="Lucida Bright" panose="02040602050505020304" pitchFamily="18" charset="0"/>
              </a:rPr>
              <a:t>↓</a:t>
            </a:r>
            <a:r>
              <a:rPr lang="en-US" sz="1050" dirty="0">
                <a:latin typeface="Lucida Bright" panose="02040602050505020304" pitchFamily="18" charset="0"/>
              </a:rPr>
              <a:t>                                                                                                  </a:t>
            </a:r>
            <a:r>
              <a:rPr lang="en-IN" sz="1050" dirty="0">
                <a:latin typeface="Lucida Bright" panose="02040602050505020304" pitchFamily="18" charset="0"/>
              </a:rPr>
              <a:t>FEEDBACK LOG</a:t>
            </a:r>
            <a:endParaRPr sz="1050" dirty="0">
              <a:latin typeface="Lucida Bright" panose="02040602050505020304" pitchFamily="18" charset="0"/>
            </a:endParaRPr>
          </a:p>
          <a:p>
            <a:r>
              <a:rPr sz="1050" dirty="0">
                <a:latin typeface="Lucida Bright" panose="02040602050505020304" pitchFamily="18" charset="0"/>
              </a:rPr>
              <a:t>METRICS &amp; DIAGNOSTICS</a:t>
            </a:r>
            <a:r>
              <a:rPr lang="en-US" sz="1050" dirty="0">
                <a:latin typeface="Lucida Bright" panose="02040602050505020304" pitchFamily="18" charset="0"/>
              </a:rPr>
              <a:t>                                                            Record action, expected impact and observed result                                                                                             </a:t>
            </a:r>
            <a:endParaRPr sz="1050" dirty="0">
              <a:latin typeface="Lucida Bright" panose="02040602050505020304" pitchFamily="18" charset="0"/>
            </a:endParaRPr>
          </a:p>
          <a:p>
            <a:pPr>
              <a:spcAft>
                <a:spcPts val="200"/>
              </a:spcAft>
            </a:pPr>
            <a:r>
              <a:rPr sz="1050" dirty="0">
                <a:latin typeface="Lucida Bright" panose="02040602050505020304" pitchFamily="18" charset="0"/>
              </a:rPr>
              <a:t>ROAS • CVR • CPC • </a:t>
            </a:r>
            <a:r>
              <a:rPr sz="1050" dirty="0" err="1">
                <a:latin typeface="Lucida Bright" panose="02040602050505020304" pitchFamily="18" charset="0"/>
              </a:rPr>
              <a:t>Profi</a:t>
            </a:r>
            <a:r>
              <a:rPr lang="en-IN" sz="1050" dirty="0">
                <a:latin typeface="Lucida Bright" panose="02040602050505020304" pitchFamily="18" charset="0"/>
              </a:rPr>
              <a:t>t estimate • Anomaly signals</a:t>
            </a:r>
          </a:p>
          <a:p>
            <a:pPr>
              <a:spcAft>
                <a:spcPts val="200"/>
              </a:spcAft>
            </a:pPr>
            <a:r>
              <a:rPr lang="en-IN" sz="1050" dirty="0">
                <a:latin typeface="Lucida Bright" panose="02040602050505020304" pitchFamily="18" charset="0"/>
              </a:rPr>
              <a:t>↓</a:t>
            </a:r>
          </a:p>
          <a:p>
            <a:pPr>
              <a:spcAft>
                <a:spcPts val="200"/>
              </a:spcAft>
            </a:pPr>
            <a:r>
              <a:rPr lang="en-IN" sz="1050" dirty="0">
                <a:latin typeface="Lucida Bright" panose="02040602050505020304" pitchFamily="18" charset="0"/>
              </a:rPr>
              <a:t>DECISION ENGINE</a:t>
            </a:r>
          </a:p>
          <a:p>
            <a:pPr>
              <a:spcAft>
                <a:spcPts val="200"/>
              </a:spcAft>
            </a:pPr>
            <a:r>
              <a:rPr lang="en-IN" sz="1050" dirty="0">
                <a:latin typeface="Lucida Bright" panose="02040602050505020304" pitchFamily="18" charset="0"/>
              </a:rPr>
              <a:t>Rules + scoring • Stock/margin constraints • Explanation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45920" y="4892040"/>
            <a:ext cx="2971800" cy="1798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965960" y="47640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TECH 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9364" y="5088331"/>
            <a:ext cx="2606040" cy="15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sz="1400" dirty="0">
                <a:latin typeface="Agency FB" panose="020B0503020202020204" pitchFamily="34" charset="0"/>
              </a:rPr>
              <a:t>KEY TECHNICAL DECISION</a:t>
            </a:r>
          </a:p>
          <a:p>
            <a:pPr>
              <a:spcAft>
                <a:spcPts val="200"/>
              </a:spcAft>
            </a:pPr>
            <a:r>
              <a:rPr sz="1300" dirty="0">
                <a:latin typeface="Lucida Bright" panose="02040602050505020304" pitchFamily="18" charset="0"/>
              </a:rPr>
              <a:t>Python + pandas for transparent tabular analysis; a lightweight local web app keeps the prototype easy to run and avoids requiring paid platform integrations.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64608" y="4892040"/>
            <a:ext cx="2971800" cy="1798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184648" y="47640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TECH 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5093208"/>
            <a:ext cx="260604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sz="1300" dirty="0">
                <a:latin typeface="Agency FB" panose="020B0503020202020204" pitchFamily="34" charset="0"/>
              </a:rPr>
              <a:t>HARDEST PART</a:t>
            </a:r>
          </a:p>
          <a:p>
            <a:pPr>
              <a:spcAft>
                <a:spcPts val="200"/>
              </a:spcAft>
            </a:pPr>
            <a:r>
              <a:rPr sz="1200" dirty="0">
                <a:latin typeface="Lucida Bright" panose="02040602050505020304" pitchFamily="18" charset="0"/>
              </a:rPr>
              <a:t>Hardest expected challenge: joining files with different column names and time ranges. Use a canonical schema, validation messages and explicit missing-data handling.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83296" y="4892040"/>
            <a:ext cx="2971800" cy="1798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403336" y="47640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TECH 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5093208"/>
            <a:ext cx="2606040" cy="1518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sz="1300" dirty="0">
                <a:latin typeface="Agency FB" panose="020B0503020202020204" pitchFamily="34" charset="0"/>
              </a:rPr>
              <a:t>VALIDATION</a:t>
            </a:r>
          </a:p>
          <a:p>
            <a:pPr>
              <a:spcAft>
                <a:spcPts val="200"/>
              </a:spcAft>
            </a:pPr>
            <a:r>
              <a:rPr sz="1300" dirty="0"/>
              <a:t>Validate formulas with hand-calculated examples; test invalid rows and stockout scenarios; compare recommendations on fixed synthetic cases. Report timings only after running tests.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3F92814-502E-45B5-A02B-F9A7EA1DADB6}"/>
              </a:ext>
            </a:extLst>
          </p:cNvPr>
          <p:cNvCxnSpPr/>
          <p:nvPr/>
        </p:nvCxnSpPr>
        <p:spPr>
          <a:xfrm>
            <a:off x="6095847" y="2537460"/>
            <a:ext cx="0" cy="190652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05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Feasibility &amp; Scope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t>Concrete boundaries · Operational run rate · Risk mitigation · Post-hackathon plans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205740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01 ·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2154518"/>
            <a:ext cx="4023360" cy="2082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sz="1400" dirty="0">
                <a:latin typeface="Agency FB" panose="020B0503020202020204" pitchFamily="34" charset="0"/>
              </a:rPr>
              <a:t>1. SCOPE</a:t>
            </a:r>
          </a:p>
          <a:p>
            <a:pPr>
              <a:spcAft>
                <a:spcPts val="200"/>
              </a:spcAft>
            </a:pPr>
            <a:r>
              <a:rPr sz="1400" dirty="0">
                <a:latin typeface="Lucida Bright" panose="02040602050505020304" pitchFamily="18" charset="0"/>
              </a:rPr>
              <a:t>In: local CSV/Excel upload, validation, unified campaign view, metric calculations, anomaly flags, ranked recommendations, explanations and decision/feedback log.</a:t>
            </a:r>
          </a:p>
          <a:p>
            <a:pPr>
              <a:spcAft>
                <a:spcPts val="200"/>
              </a:spcAft>
            </a:pPr>
            <a:r>
              <a:rPr sz="1400" dirty="0">
                <a:latin typeface="Lucida Bright" panose="02040602050505020304" pitchFamily="18" charset="0"/>
              </a:rPr>
              <a:t>Out: direct write access to live ad accounts, guaranteed profit prediction, production-scale security and autonomous spending without approval.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05740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1228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02 · ECONOMICS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313432"/>
            <a:ext cx="4023360" cy="184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sz="1600" dirty="0">
                <a:latin typeface="Agency FB" panose="020B0503020202020204" pitchFamily="34" charset="0"/>
              </a:rPr>
              <a:t>2. RUNNING COST</a:t>
            </a:r>
          </a:p>
          <a:p>
            <a:pPr>
              <a:spcAft>
                <a:spcPts val="200"/>
              </a:spcAft>
            </a:pPr>
            <a:r>
              <a:rPr sz="1600" dirty="0">
                <a:latin typeface="Lucida Bright" panose="02040602050505020304" pitchFamily="18" charset="0"/>
              </a:rPr>
              <a:t>Prototype runs locally using open-source Python libraries. Estimated software/API cost: ₹0 for a local-only demo, excluding electricity and optional paid API usage. Cloud cost depends on deployment.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438912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965960" y="4261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03 · CONTINGENCY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4483673"/>
            <a:ext cx="4023360" cy="2087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sz="1600" dirty="0">
                <a:latin typeface="Agency FB" panose="020B0503020202020204" pitchFamily="34" charset="0"/>
              </a:rPr>
              <a:t>3. RISKS &amp; FALLBACK</a:t>
            </a:r>
          </a:p>
          <a:p>
            <a:pPr>
              <a:spcAft>
                <a:spcPts val="200"/>
              </a:spcAft>
            </a:pPr>
            <a:r>
              <a:rPr sz="1600" dirty="0">
                <a:latin typeface="Lucida Bright" panose="02040602050505020304" pitchFamily="18" charset="0"/>
              </a:rPr>
              <a:t>Risk: missing or stale data. Mitigation: schema checks, warnings and sample CSV fallback. Risk: unreliable AI output. Mitigation: deterministic metrics, constrained recommendations and human approval.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438912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812280" y="4261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04 · HORIZON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383" y="4606783"/>
            <a:ext cx="4023360" cy="184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sz="1600" dirty="0">
                <a:latin typeface="Agency FB" panose="020B0503020202020204" pitchFamily="34" charset="0"/>
              </a:rPr>
              <a:t>4. AFTER THE HACKATHON</a:t>
            </a:r>
          </a:p>
          <a:p>
            <a:pPr>
              <a:spcAft>
                <a:spcPts val="200"/>
              </a:spcAft>
            </a:pPr>
            <a:r>
              <a:rPr sz="1600" dirty="0">
                <a:latin typeface="Lucida Bright" panose="02040602050505020304" pitchFamily="18" charset="0"/>
              </a:rPr>
              <a:t>Add read-only ad/store integrations, time-series forecasting, creative-level analysis, role-based access, audit logs and cloud deployment. Enable live execution only after permission controls and outcome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06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Impact &amp; Metrics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t>Primary measurable impact · Transparent calculation · Stakeholder advantages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2011680"/>
            <a:ext cx="94183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8836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PRIMARY METRIC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194560"/>
            <a:ext cx="4114800" cy="1564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4600" b="1">
                <a:solidFill>
                  <a:srgbClr val="FD1485"/>
                </a:solidFill>
                <a:latin typeface="Fjalla One"/>
              </a:defRPr>
            </a:pPr>
            <a:r>
              <a:rPr dirty="0">
                <a:latin typeface="Agency FB" panose="020B0503020202020204" pitchFamily="34" charset="0"/>
              </a:rPr>
              <a:t>Target: 30%</a:t>
            </a:r>
          </a:p>
          <a:p>
            <a:pPr>
              <a:spcAft>
                <a:spcPts val="200"/>
              </a:spcAft>
            </a:pPr>
            <a:r>
              <a:rPr sz="2400" dirty="0">
                <a:latin typeface="Agency FB" panose="020B0503020202020204" pitchFamily="34" charset="0"/>
              </a:rPr>
              <a:t>reduction in manual analysis time (prototype goal)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17336" y="2051304"/>
            <a:ext cx="4572000" cy="184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53334"/>
                </a:solidFill>
                <a:latin typeface="Fjalla One"/>
              </a:defRPr>
            </a:pPr>
            <a:r>
              <a:rPr sz="1600" dirty="0">
                <a:latin typeface="Agency FB" panose="020B0503020202020204" pitchFamily="34" charset="0"/>
              </a:rPr>
              <a:t>HOW IT WAS MEASURED</a:t>
            </a:r>
            <a:endParaRPr lang="en-IN" sz="1600" dirty="0">
              <a:latin typeface="Agency FB" panose="020B0503020202020204" pitchFamily="34" charset="0"/>
            </a:endParaRPr>
          </a:p>
          <a:p>
            <a:pPr>
              <a:spcAft>
                <a:spcPts val="200"/>
              </a:spcAft>
            </a:pPr>
            <a:r>
              <a:rPr lang="en-US" sz="1600" dirty="0">
                <a:latin typeface="Lucida Bright" panose="02040602050505020304" pitchFamily="18" charset="0"/>
              </a:rPr>
              <a:t>Measure one fixed analysis task with and without </a:t>
            </a:r>
            <a:r>
              <a:rPr lang="en-US" sz="1600" dirty="0" err="1">
                <a:latin typeface="Lucida Bright" panose="02040602050505020304" pitchFamily="18" charset="0"/>
              </a:rPr>
              <a:t>AdPilot</a:t>
            </a:r>
            <a:r>
              <a:rPr lang="en-US" sz="1600" dirty="0">
                <a:latin typeface="Lucida Bright" panose="02040602050505020304" pitchFamily="18" charset="0"/>
              </a:rPr>
              <a:t> on the same dataset. Reduction = (baseline minutes − prototype minutes) ÷ baseline minutes × 100. 30% is a target; replace it with the measured result after testing</a:t>
            </a:r>
            <a:r>
              <a:rPr lang="en-US" sz="1100" dirty="0">
                <a:latin typeface="Lucida Bright" panose="02040602050505020304" pitchFamily="18" charset="0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45920" y="4114800"/>
            <a:ext cx="2971800" cy="2423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965960" y="39867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IMPACT 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343400"/>
            <a:ext cx="260604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sz="1300" dirty="0">
                <a:latin typeface="Agency FB" panose="020B0503020202020204" pitchFamily="34" charset="0"/>
              </a:rPr>
              <a:t>WHAT IMPROVES</a:t>
            </a:r>
          </a:p>
          <a:p>
            <a:pPr>
              <a:spcAft>
                <a:spcPts val="200"/>
              </a:spcAft>
            </a:pPr>
            <a:r>
              <a:rPr sz="1400" dirty="0">
                <a:latin typeface="Lucida Bright" panose="02040602050505020304" pitchFamily="18" charset="0"/>
              </a:rPr>
              <a:t>Before: manually compare separate reports and check stock/margin. After: one joined view with ranked, explainable recommendations. Measure time saved and correct scenario decisions.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64608" y="4114800"/>
            <a:ext cx="2971800" cy="2423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184648" y="39867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IMPACT 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01768" y="4232008"/>
            <a:ext cx="2606040" cy="2333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sz="1600" dirty="0">
                <a:latin typeface="Agency FB" panose="020B0503020202020204" pitchFamily="34" charset="0"/>
              </a:rPr>
              <a:t>WHO ELSE BENEFITS</a:t>
            </a:r>
          </a:p>
          <a:p>
            <a:pPr>
              <a:spcAft>
                <a:spcPts val="200"/>
              </a:spcAft>
            </a:pPr>
            <a:r>
              <a:rPr sz="1600" dirty="0">
                <a:latin typeface="Lucida Bright" panose="02040602050505020304" pitchFamily="18" charset="0"/>
              </a:rPr>
              <a:t>D2C founders, marketing teams, inventory planners and finance teams gain a shared view of spend efficiency, product profitability and stock risk.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83296" y="4114800"/>
            <a:ext cx="2971800" cy="2423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403336" y="39867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IMPACT 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0456" y="4419331"/>
            <a:ext cx="2606040" cy="184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sz="1400" dirty="0">
                <a:latin typeface="Agency FB" panose="020B0503020202020204" pitchFamily="34" charset="0"/>
              </a:rPr>
              <a:t>RISKS / MISUSE</a:t>
            </a:r>
          </a:p>
          <a:p>
            <a:pPr>
              <a:spcAft>
                <a:spcPts val="200"/>
              </a:spcAft>
            </a:pPr>
            <a:r>
              <a:rPr sz="1400" dirty="0">
                <a:latin typeface="Lucida Bright" panose="02040602050505020304" pitchFamily="18" charset="0"/>
              </a:rPr>
              <a:t>Bad attribution or stale data may trigger poor suggestions. Show data freshness and assumptions, cap suggested changes, keep approval mandatory and log every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07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Why This Project?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t>Direct contrast with today's alternatives · Unfair technical advantage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2011680"/>
            <a:ext cx="4572000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8836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STATUS QUO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286000"/>
            <a:ext cx="4023360" cy="199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53334"/>
                </a:solidFill>
                <a:latin typeface="Fjalla One"/>
              </a:defRPr>
            </a:pPr>
            <a:r>
              <a:rPr dirty="0">
                <a:latin typeface="Agency FB" panose="020B0503020202020204" pitchFamily="34" charset="0"/>
              </a:rPr>
              <a:t>CURRENT APPROACH</a:t>
            </a:r>
          </a:p>
          <a:p>
            <a:pPr>
              <a:spcAft>
                <a:spcPts val="200"/>
              </a:spcAft>
            </a:pPr>
            <a:r>
              <a:rPr dirty="0">
                <a:latin typeface="Lucida Bright" panose="02040602050505020304" pitchFamily="18" charset="0"/>
              </a:rPr>
              <a:t>Teams use separate platform dashboards, spreadsheets and analytics tools. Operators still need to reconcile revenue, margin and inventory before deciding where the next rupee should go.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011680"/>
            <a:ext cx="4572000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12280" y="18836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OUR 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286000"/>
            <a:ext cx="4023360" cy="2056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53334"/>
                </a:solidFill>
                <a:latin typeface="Fjalla One"/>
              </a:defRPr>
            </a:pPr>
            <a:r>
              <a:rPr dirty="0">
                <a:latin typeface="Agency FB" panose="020B0503020202020204" pitchFamily="34" charset="0"/>
              </a:rPr>
              <a:t>OUR APPROACH</a:t>
            </a:r>
          </a:p>
          <a:p>
            <a:pPr>
              <a:spcAft>
                <a:spcPts val="200"/>
              </a:spcAft>
            </a:pPr>
            <a:r>
              <a:rPr sz="1600" dirty="0" err="1">
                <a:latin typeface="Lucida Bright" panose="02040602050505020304" pitchFamily="18" charset="0"/>
              </a:rPr>
              <a:t>AdPilot</a:t>
            </a:r>
            <a:r>
              <a:rPr sz="1600" dirty="0">
                <a:latin typeface="Lucida Bright" panose="02040602050505020304" pitchFamily="18" charset="0"/>
              </a:rPr>
              <a:t> creates one local workflow: upload data, calculate consistent metrics, identify anomalies, evaluate stock and margin constraints, then review ranked actions with explanations. The prototype works without live platform credentials.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4892040"/>
            <a:ext cx="941832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965960" y="47640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MOAT / DIFFERENTIATION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120640"/>
            <a:ext cx="8869680" cy="119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D1485"/>
                </a:solidFill>
                <a:latin typeface="Fjalla One"/>
              </a:defRPr>
            </a:pPr>
            <a:r>
              <a:rPr sz="1600" dirty="0">
                <a:latin typeface="Agency FB" panose="020B0503020202020204" pitchFamily="34" charset="0"/>
              </a:rPr>
              <a:t>KEY DIFFERENCE</a:t>
            </a:r>
          </a:p>
          <a:p>
            <a:pPr>
              <a:spcAft>
                <a:spcPts val="200"/>
              </a:spcAft>
            </a:pPr>
            <a:r>
              <a:rPr dirty="0"/>
              <a:t>We optimize for business-aware decisions, not ROAS alone: each recommendation considers campaign efficiency alongside product margin and inventory, then records the decision for outcome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D1485"/>
                </a:solidFill>
                <a:latin typeface="Fjalla One"/>
              </a:rPr>
              <a:t>08  </a:t>
            </a:r>
            <a:r>
              <a:rPr sz="3200" b="1" dirty="0">
                <a:solidFill>
                  <a:srgbClr val="353334"/>
                </a:solidFill>
                <a:latin typeface="Fjalla One"/>
              </a:rPr>
              <a:t>Extra Slide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5257" y="1732002"/>
            <a:ext cx="9441180" cy="29443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6E6E73"/>
                </a:solidFill>
                <a:latin typeface="Mulish"/>
              </a:defRPr>
            </a:pPr>
            <a:r>
              <a:rPr sz="1600" dirty="0">
                <a:latin typeface="Agency FB" panose="020B0503020202020204" pitchFamily="34" charset="0"/>
              </a:rPr>
              <a:t>DEMO SCENARIO</a:t>
            </a:r>
          </a:p>
          <a:p>
            <a:pPr>
              <a:spcAft>
                <a:spcPts val="200"/>
              </a:spcAft>
            </a:pPr>
            <a:r>
              <a:rPr dirty="0">
                <a:latin typeface="Lucida Bright" panose="02040602050505020304" pitchFamily="18" charset="0"/>
              </a:rPr>
              <a:t>1. Upload campaign, sales, product and inventory CSVs.</a:t>
            </a:r>
          </a:p>
          <a:p>
            <a:pPr>
              <a:spcAft>
                <a:spcPts val="200"/>
              </a:spcAft>
            </a:pPr>
            <a:r>
              <a:rPr dirty="0">
                <a:latin typeface="Lucida Bright" panose="02040602050505020304" pitchFamily="18" charset="0"/>
              </a:rPr>
              <a:t>2. Review ROAS, conversion rate and estimated profit signals.</a:t>
            </a:r>
          </a:p>
          <a:p>
            <a:pPr>
              <a:spcAft>
                <a:spcPts val="200"/>
              </a:spcAft>
            </a:pPr>
            <a:r>
              <a:rPr dirty="0">
                <a:latin typeface="Lucida Bright" panose="02040602050505020304" pitchFamily="18" charset="0"/>
              </a:rPr>
              <a:t>3. Show an anomaly and its likely contributing metric.</a:t>
            </a:r>
          </a:p>
          <a:p>
            <a:pPr>
              <a:spcAft>
                <a:spcPts val="200"/>
              </a:spcAft>
            </a:pPr>
            <a:r>
              <a:rPr dirty="0">
                <a:latin typeface="Lucida Bright" panose="02040602050505020304" pitchFamily="18" charset="0"/>
              </a:rPr>
              <a:t>4. Compare a high-ROAS, low-stock product with a safer alternative.</a:t>
            </a:r>
          </a:p>
          <a:p>
            <a:pPr>
              <a:spcAft>
                <a:spcPts val="200"/>
              </a:spcAft>
            </a:pPr>
            <a:r>
              <a:rPr dirty="0">
                <a:latin typeface="Lucida Bright" panose="02040602050505020304" pitchFamily="18" charset="0"/>
              </a:rPr>
              <a:t>5. Approve/reject a budget recommendation.</a:t>
            </a:r>
          </a:p>
          <a:p>
            <a:pPr>
              <a:spcAft>
                <a:spcPts val="200"/>
              </a:spcAft>
            </a:pPr>
            <a:r>
              <a:rPr dirty="0">
                <a:latin typeface="Lucida Bright" panose="02040602050505020304" pitchFamily="18" charset="0"/>
              </a:rPr>
              <a:t>6. Log the observed result for evaluation.</a:t>
            </a:r>
          </a:p>
          <a:p>
            <a:pPr>
              <a:spcAft>
                <a:spcPts val="200"/>
              </a:spcAft>
            </a:pPr>
            <a:endParaRPr dirty="0">
              <a:latin typeface="Lucida Bright" panose="02040602050505020304" pitchFamily="18" charset="0"/>
            </a:endParaRPr>
          </a:p>
          <a:p>
            <a:pPr>
              <a:spcAft>
                <a:spcPts val="200"/>
              </a:spcAft>
            </a:pPr>
            <a:r>
              <a:rPr dirty="0">
                <a:latin typeface="Lucida Bright" panose="02040602050505020304" pitchFamily="18" charset="0"/>
              </a:rPr>
              <a:t>Label synthetic data clearly. Do not claim live execution or measured impact unless implemented and tested</a:t>
            </a:r>
            <a:r>
              <a:rPr sz="1100" dirty="0">
                <a:latin typeface="Lucida Bright" panose="020406020505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DATAQUEST_3.0_AdPilot_Filled.pptx2</Template>
  <TotalTime>997</TotalTime>
  <Words>1287</Words>
  <Application>Microsoft Office PowerPoint</Application>
  <PresentationFormat>Widescreen</PresentationFormat>
  <Paragraphs>139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Agency FB</vt:lpstr>
      <vt:lpstr>Algerian</vt:lpstr>
      <vt:lpstr>Arial</vt:lpstr>
      <vt:lpstr>Calibri</vt:lpstr>
      <vt:lpstr>Cambria</vt:lpstr>
      <vt:lpstr>Fjalla One</vt:lpstr>
      <vt:lpstr>Lucida Bright</vt:lpstr>
      <vt:lpstr>Lucida Calligraphy</vt:lpstr>
      <vt:lpstr>Mulish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Raja Srirangan</dc:creator>
  <cp:keywords/>
  <dc:description>generated using python-pptx</dc:description>
  <cp:lastModifiedBy>Raja Srirangan</cp:lastModifiedBy>
  <cp:revision>1</cp:revision>
  <dcterms:created xsi:type="dcterms:W3CDTF">2026-10-07T09:24:21Z</dcterms:created>
  <dcterms:modified xsi:type="dcterms:W3CDTF">2026-10-08T02:01:47Z</dcterms:modified>
  <cp:category/>
</cp:coreProperties>
</file>